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3152"/>
            <a:ext cx="54864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7589520" cy="448056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188720"/>
            <a:ext cx="7589520" cy="448056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6080" y="155448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55448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554480"/>
            <a:ext cx="320040" cy="320040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FINANCIAL SALES DASHBOARD</a:t>
            </a:r>
            <a:endParaRPr sz="3600" b="1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8346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ADCFC"/>
                </a:solidFill>
              </a:rPr>
              <a:t>Task 4  ·  Dashboard Design</a:t>
            </a:r>
            <a:endParaRPr sz="1800" b="0" i="0">
              <a:solidFill>
                <a:srgbClr val="CADCF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0" y="3383280"/>
            <a:ext cx="4846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520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C74F"/>
                </a:solidFill>
              </a:rPr>
              <a:t>Mohammad Sadique</a:t>
            </a:r>
            <a:endParaRPr sz="2000" b="1" i="0">
              <a:solidFill>
                <a:srgbClr val="F9C74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68880" y="400507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Data Analyst Intern  ·  Elevate Labs</a:t>
            </a:r>
            <a:endParaRPr sz="1400" b="0" i="0">
              <a:solidFill>
                <a:srgbClr val="CADCF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4407408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A4AE"/>
                </a:solidFill>
              </a:rPr>
              <a:t>04 June 2026</a:t>
            </a:r>
            <a:endParaRPr sz="1200" b="0" i="1">
              <a:solidFill>
                <a:srgbClr val="90A4A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DATASET OVERVIEW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Microsoft Financials.csv</a:t>
            </a:r>
            <a:endParaRPr sz="1600" b="1" i="0">
              <a:solidFill>
                <a:srgbClr val="00B4D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029200" cy="7498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📊  Rows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700 records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679191"/>
            <a:ext cx="5029200" cy="7498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2491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🌍  Countries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USA, Canada, Germany, France, Mexico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3575304"/>
            <a:ext cx="5029200" cy="7498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21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📅  Time Period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39410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2013 – 2014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4471416"/>
            <a:ext cx="5029200" cy="7498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17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📦  Products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48371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Paseo, VTT, Velo, Amarilla, Montana, Carretera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5367528"/>
            <a:ext cx="5029200" cy="7498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🏢  Segments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5733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Government, Small Business, Enterprise, Midmarket, Channel Partners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5669280" cy="530352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097280"/>
            <a:ext cx="5669280" cy="530352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Key Columns</a:t>
            </a:r>
            <a:endParaRPr sz="1600" b="1" i="0">
              <a:solidFill>
                <a:srgbClr val="00B4D8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309360" y="1856231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783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Sales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309360" y="2295144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22199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Profit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309360" y="273405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6609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COGS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6309360" y="3172968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0998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Units Sold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6309360" y="361188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538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Gross Sales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6309360" y="4050791"/>
            <a:ext cx="164592" cy="164592"/>
          </a:xfrm>
          <a:prstGeom prst="ellipse">
            <a:avLst/>
          </a:prstGeom>
          <a:solidFill>
            <a:srgbClr val="F9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Discounts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09360" y="4489704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Segment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6309360" y="4928616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855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Product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6309360" y="5367528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2943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Country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6309360" y="5806440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733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Date / Month / Year</a:t>
            </a:r>
            <a:endParaRPr sz="12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KPIs CHOSEN &amp; WHY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530352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30352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7432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💰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Total Sales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117.87M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21945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</a:rPr>
              <a:t>Why this KPI?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Measures overall revenue performance across all segments and countries.</a:t>
            </a:r>
            <a:endParaRPr sz="1100" b="0" i="0">
              <a:solidFill>
                <a:srgbClr val="CCDDE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0972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📈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3756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Total Profit</a:t>
            </a:r>
            <a:endParaRPr sz="1400" b="1" i="0">
              <a:solidFill>
                <a:srgbClr val="2ECC7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3756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16.89M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39" y="3017520"/>
            <a:ext cx="21945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</a:rPr>
              <a:t>Why this KPI?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83279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Tracks business health — how much is retained after costs.</a:t>
            </a:r>
            <a:endParaRPr sz="1100" b="0" i="0">
              <a:solidFill>
                <a:srgbClr val="CCDDE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2743200" cy="530352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097280"/>
            <a:ext cx="2743200" cy="5303520"/>
          </a:xfrm>
          <a:prstGeom prst="rect">
            <a:avLst/>
          </a:prstGeom>
          <a:noFill/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10972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📦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</a:rPr>
              <a:t>Units Sold</a:t>
            </a:r>
            <a:endParaRPr sz="1400" b="1" i="0">
              <a:solidFill>
                <a:srgbClr val="CADCFC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1.12M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3017520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</a:rPr>
              <a:t>Why this KPI?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Indicates product demand and sales volume trends.</a:t>
            </a:r>
            <a:endParaRPr sz="1100" b="0" i="0">
              <a:solidFill>
                <a:srgbClr val="CCDDE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006840" y="1097280"/>
            <a:ext cx="2743200" cy="530352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1097280"/>
            <a:ext cx="2743200" cy="5303520"/>
          </a:xfrm>
          <a:prstGeom prst="rect">
            <a:avLst/>
          </a:prstGeom>
          <a:noFill/>
          <a:ln w="254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097280"/>
            <a:ext cx="2743200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🏭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8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C74F"/>
                </a:solidFill>
              </a:rPr>
              <a:t>Total COGS</a:t>
            </a:r>
            <a:endParaRPr sz="1400" b="1" i="0">
              <a:solidFill>
                <a:srgbClr val="F9C74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8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100.98M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281160" y="3017520"/>
            <a:ext cx="219456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</a:rPr>
              <a:t>Why this KPI?</a:t>
            </a:r>
            <a:endParaRPr sz="1100" b="1" i="0">
              <a:solidFill>
                <a:srgbClr val="CADCFC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Monitors cost efficiency — higher COGS = lower margins.</a:t>
            </a:r>
            <a:endParaRPr sz="1100" b="0" i="0">
              <a:solidFill>
                <a:srgbClr val="CCDDE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DASHBOARD SCREENSHOTS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PAGE 1</a:t>
            </a:r>
            <a:endParaRPr sz="1600" b="1" i="0">
              <a:solidFill>
                <a:srgbClr val="00B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Sales Overview</a:t>
            </a:r>
            <a:endParaRPr sz="1300" b="0" i="0">
              <a:solidFill>
                <a:srgbClr val="CADCF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528445"/>
            <a:ext cx="5486400" cy="21101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1">
                <a:solidFill>
                  <a:srgbClr val="6080A0"/>
                </a:solidFill>
              </a:rPr>
              <a:t>[ Insert Screenshot of Page 1 here ]</a:t>
            </a:r>
            <a:endParaRPr sz="1300" b="0" i="1">
              <a:solidFill>
                <a:srgbClr val="608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4 KPI Cards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Monthly Profit Line Chart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Monthly Sales Line Chart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Sales by Segment Bar Chart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Year Slicer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9360" y="1106170"/>
            <a:ext cx="5486400" cy="539496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005840"/>
            <a:ext cx="5486400" cy="539496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PAGE 2</a:t>
            </a:r>
            <a:endParaRPr sz="1600" b="1" i="0">
              <a:solidFill>
                <a:srgbClr val="2ECC7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Product &amp; Country Analysis</a:t>
            </a:r>
            <a:endParaRPr sz="1300" b="0" i="0">
              <a:solidFill>
                <a:srgbClr val="CADCF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80A0"/>
                </a:solidFill>
              </a:rPr>
              <a:t>[ Insert Screenshot of Page 2 here ]</a:t>
            </a:r>
            <a:endParaRPr sz="1300" b="0" i="1">
              <a:solidFill>
                <a:srgbClr val="6080A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Top 4 Products by Profit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Sales &amp; Profit by Product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4343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Sales by Country Map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4617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Segment Slicer</a:t>
            </a:r>
            <a:endParaRPr sz="1100" b="0" i="0">
              <a:solidFill>
                <a:srgbClr val="FFFFFF"/>
              </a:solidFill>
            </a:endParaRPr>
          </a:p>
        </p:txBody>
      </p:sp>
      <p:pic>
        <p:nvPicPr>
          <p:cNvPr id="26" name="Picture 25" descr="Financial Sale 1"/>
          <p:cNvPicPr>
            <a:picLocks noChangeAspect="1"/>
          </p:cNvPicPr>
          <p:nvPr/>
        </p:nvPicPr>
        <p:blipFill>
          <a:blip r:embed="rId1"/>
          <a:srcRect b="5753"/>
          <a:stretch>
            <a:fillRect/>
          </a:stretch>
        </p:blipFill>
        <p:spPr>
          <a:xfrm>
            <a:off x="378460" y="1469390"/>
            <a:ext cx="5473700" cy="2174240"/>
          </a:xfrm>
          <a:prstGeom prst="rect">
            <a:avLst/>
          </a:prstGeom>
        </p:spPr>
      </p:pic>
      <p:pic>
        <p:nvPicPr>
          <p:cNvPr id="27" name="Picture 26" descr="Financial Sale 2"/>
          <p:cNvPicPr>
            <a:picLocks noChangeAspect="1"/>
          </p:cNvPicPr>
          <p:nvPr/>
        </p:nvPicPr>
        <p:blipFill>
          <a:blip r:embed="rId2"/>
          <a:srcRect b="6898"/>
          <a:stretch>
            <a:fillRect/>
          </a:stretch>
        </p:blipFill>
        <p:spPr>
          <a:xfrm>
            <a:off x="6344920" y="1468755"/>
            <a:ext cx="5427345" cy="2117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KEY INSIGHTS FROM THE DASHBOARD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669280" cy="237744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0" cy="237744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91440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🏆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Paseo Leads Profit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19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Paseo is the top-performing product with ₹4.8M in profit — significantly ahead of VTT (3.0M) and Amarilla (2.8M). Focus sales efforts on Paseo for maximum return.</a:t>
            </a:r>
            <a:endParaRPr sz="1100" b="0" i="0">
              <a:solidFill>
                <a:srgbClr val="CCDDE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669280" cy="237744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669280" cy="2377440"/>
          </a:xfrm>
          <a:prstGeom prst="rect">
            <a:avLst/>
          </a:prstGeom>
          <a:noFill/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91440" cy="2377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🏛️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866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Government Dominates Sales</a:t>
            </a:r>
            <a:endParaRPr sz="1400" b="1" i="0">
              <a:solidFill>
                <a:srgbClr val="2ECC7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19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The Government segment drives 53M in sales — more than Small Business (42M) and Enterprise (19M) combined. B2G relationships are the primary revenue engine.</a:t>
            </a:r>
            <a:endParaRPr sz="1100" b="0" i="0">
              <a:solidFill>
                <a:srgbClr val="CCDDE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5669280" cy="237744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669280" cy="2377440"/>
          </a:xfrm>
          <a:prstGeom prst="rect">
            <a:avLst/>
          </a:prstGeom>
          <a:noFill/>
          <a:ln w="1905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91440" cy="2377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📉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38404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C74F"/>
                </a:solidFill>
              </a:rPr>
              <a:t>COGS is High vs Profit</a:t>
            </a:r>
            <a:endParaRPr sz="1400" b="1" i="0">
              <a:solidFill>
                <a:srgbClr val="F9C74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79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Total COGS of 100.98M against Sales of 117.87M shows a tight margin of ~14.3%. Cost optimization is a critical area for profitability improvement.</a:t>
            </a:r>
            <a:endParaRPr sz="1100" b="0" i="0">
              <a:solidFill>
                <a:srgbClr val="CCDDE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9360" y="3749039"/>
            <a:ext cx="5669280" cy="237744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49039"/>
            <a:ext cx="5669280" cy="2377440"/>
          </a:xfrm>
          <a:prstGeom prst="rect">
            <a:avLst/>
          </a:prstGeom>
          <a:noFill/>
          <a:ln w="19050">
            <a:solidFill>
              <a:srgbClr val="F9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49039"/>
            <a:ext cx="91440" cy="2377440"/>
          </a:xfrm>
          <a:prstGeom prst="rect">
            <a:avLst/>
          </a:prstGeom>
          <a:solidFill>
            <a:srgbClr val="F9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40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📅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86600" y="38404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171"/>
                </a:solidFill>
              </a:rPr>
              <a:t>Seasonal Sales Pattern</a:t>
            </a:r>
            <a:endParaRPr sz="1400" b="1" i="0">
              <a:solidFill>
                <a:srgbClr val="F9717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4297679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Sales peak in October (21.7M) and decline through March (5.5M). Q4 is the strongest quarter — inventory and promotions should be planned accordingly.</a:t>
            </a:r>
            <a:endParaRPr sz="1100" b="0" i="0">
              <a:solidFill>
                <a:srgbClr val="CCDDE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TOOLS &amp; TECHNIQUES USED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521208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21208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7432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Power BI Desktop</a:t>
            </a:r>
            <a:endParaRPr sz="1300" b="1" i="0">
              <a:solidFill>
                <a:srgbClr val="00B4D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21945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Interactive dashboard creation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2-page layout with navigation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DAX measures for KPIs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46120" y="1097280"/>
            <a:ext cx="2743200" cy="521208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097280"/>
            <a:ext cx="2743200" cy="521208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0972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3756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Microsoft Financials.csv</a:t>
            </a:r>
            <a:endParaRPr sz="1300" b="1" i="0">
              <a:solidFill>
                <a:srgbClr val="2ECC7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20439" y="2487168"/>
            <a:ext cx="21945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700-row financial dataset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900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Kaggle open dataset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29000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2013–2014 sales data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2743200" cy="521208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097280"/>
            <a:ext cx="2743200" cy="5212080"/>
          </a:xfrm>
          <a:prstGeom prst="rect">
            <a:avLst/>
          </a:prstGeom>
          <a:noFill/>
          <a:ln w="254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🧮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C74F"/>
                </a:solidFill>
              </a:rPr>
              <a:t>DAX Formula</a:t>
            </a:r>
            <a:endParaRPr sz="1300" b="1" i="0">
              <a:solidFill>
                <a:srgbClr val="F9C74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0" y="2487168"/>
            <a:ext cx="219456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Profit Margin % = DIVIDE(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6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SUM(Profit), SUM(Sales))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9360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Custom calculated measure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006840" y="1097280"/>
            <a:ext cx="2743200" cy="5212080"/>
          </a:xfrm>
          <a:prstGeom prst="rect">
            <a:avLst/>
          </a:prstGeom>
          <a:solidFill>
            <a:srgbClr val="1F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1097280"/>
            <a:ext cx="2743200" cy="5212080"/>
          </a:xfrm>
          <a:prstGeom prst="rect">
            <a:avLst/>
          </a:prstGeom>
          <a:noFill/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097280"/>
            <a:ext cx="2743200" cy="10972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🗺️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8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</a:rPr>
              <a:t>Visuals Used</a:t>
            </a:r>
            <a:endParaRPr sz="1300" b="1" i="0">
              <a:solidFill>
                <a:srgbClr val="CADCFC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281160" y="2487168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19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KPI Cards, Line Charts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89719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Bar &amp; Clustered Bar Charts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89719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Map Visual, Slicers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80A0"/>
                </a:solidFill>
              </a:rPr>
              <a:t>Mohammad Sadique  ·  Elevate Labs Data Analyst Internship  ·  04 June 2026</a:t>
            </a:r>
            <a:endParaRPr sz="1000" b="0" i="1">
              <a:solidFill>
                <a:srgbClr val="608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2431</Words>
  <Application>WPS Presentation</Application>
  <PresentationFormat>On-screen Show (4:3)</PresentationFormat>
  <Paragraphs>200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sadique osman</cp:lastModifiedBy>
  <cp:revision>3</cp:revision>
  <dcterms:created xsi:type="dcterms:W3CDTF">2013-01-27T09:14:00Z</dcterms:created>
  <dcterms:modified xsi:type="dcterms:W3CDTF">2026-06-04T08:11:22Z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CDADE324DD294DF6B4EA9A2ECDAB29E7_13</vt:lpwstr>
  </property>
</Properties>
</file>